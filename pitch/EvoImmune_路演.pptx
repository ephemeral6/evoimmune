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模型解题次数</c:v>
                </c:pt>
              </c:strCache>
            </c:strRef>
          </c:tx>
          <c:spPr>
            <a:solidFill>
              <a:srgbClr val="C4392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600" u="none">
                    <a:solidFill>
                      <a:srgbClr val="ECDCB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4392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8A259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免疫前(朴素)</c:v>
                  </c:pt>
                  <c:pt idx="1">
                    <c:v>免疫后(EvoMap)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180</c:v>
                </c:pt>
                <c:pt idx="1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600" u="none">
                  <a:solidFill>
                    <a:srgbClr val="ECDCB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ECDCBF"/>
                </a:solidFill>
                <a:latin typeface="PingFang S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4A3A2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C876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241B11"/>
        </a:solidFill>
        <a:ln>
          <a:noFill/>
        </a:ln>
        <a:effectLst/>
      </c:spPr>
    </c:plotArea>
    <c:plotVisOnly val="1"/>
    <c:dispBlanksAs val="span"/>
  </c:chart>
  <c:spPr>
    <a:solidFill>
      <a:srgbClr val="241B11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0C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0A93B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✦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772400" y="641908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7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EvoImmune · 进化酒馆 · The Forge / A2A 蜂群协作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0" y="123444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spc="400" kern="0" dirty="0">
                <a:solidFill>
                  <a:srgbClr val="E0A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EVOTAVERN · FRONTIER IMMUNITY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0" y="1965960"/>
            <a:ext cx="121889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CDCB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进化酒馆 · 边境免疫志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0" y="324612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ECDCB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EvoImmune — 硅基生命的群体免疫系统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0" y="411480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E0A93B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「 一个 agent 学会,百万 agent 生来免疫 」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0" y="576072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87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赛道一 The Forge · A2A 蜂群协作   |   EvoMap「进化酒馆」黑客松 ·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0C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0A93B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✦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772400" y="641908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7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EvoImmune · 进化酒馆 · The Forge / A2A 蜂群协作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68680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A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赛事手册原命题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1874520"/>
            <a:ext cx="10607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3000" b="1" dirty="0">
                <a:solidFill>
                  <a:srgbClr val="ECDCB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当单体 Agent 在试错时,它的失败经验如何被压缩成</a:t>
            </a:r>
            <a:endParaRPr lang="en-US" sz="30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3000" b="1" dirty="0">
                <a:solidFill>
                  <a:srgbClr val="E0A93B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整个种群的本能</a:t>
            </a:r>
            <a:pPr indent="0" marL="0">
              <a:lnSpc>
                <a:spcPct val="128000"/>
              </a:lnSpc>
              <a:buNone/>
            </a:pPr>
            <a:r>
              <a:rPr lang="en-US" sz="3000" b="1" dirty="0">
                <a:solidFill>
                  <a:srgbClr val="ECDCB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,让其他节点</a:t>
            </a:r>
            <a:pPr indent="0" marL="0">
              <a:lnSpc>
                <a:spcPct val="128000"/>
              </a:lnSpc>
              <a:buNone/>
            </a:pPr>
            <a:r>
              <a:rPr lang="en-US" sz="3000" b="1" dirty="0">
                <a:solidFill>
                  <a:srgbClr val="E0A93B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生来就具备群体免疫</a:t>
            </a:r>
            <a:endParaRPr lang="en-US" sz="30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3000" b="1" dirty="0">
                <a:solidFill>
                  <a:srgbClr val="ECDCB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?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86968" y="52120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87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—— 这正是 EvoImmune 要回答的问题。我们把它做成了真实可运行、可上链的系统。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11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0A93B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✦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772400" y="641908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7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EvoImmune · 进化酒馆 · The Forge / A2A 蜂群协作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68680" y="50292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DCB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痛点 · 经验不共享,每个 agent 都从零踩坑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86968" y="126187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A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数据来自 EvoMap 官方论文对真实网络的分析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8076" y="2103120"/>
            <a:ext cx="3383280" cy="3108960"/>
          </a:xfrm>
          <a:prstGeom prst="rect">
            <a:avLst/>
          </a:prstGeom>
          <a:solidFill>
            <a:srgbClr val="241B11"/>
          </a:solidFill>
          <a:ln w="12700">
            <a:solidFill>
              <a:srgbClr val="4A3A22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08076" y="2103120"/>
            <a:ext cx="3383280" cy="32004"/>
          </a:xfrm>
          <a:prstGeom prst="rect">
            <a:avLst/>
          </a:prstGeom>
          <a:solidFill>
            <a:srgbClr val="C8962A"/>
          </a:solidFill>
          <a:ln/>
        </p:spPr>
      </p:sp>
      <p:sp>
        <p:nvSpPr>
          <p:cNvPr id="8" name="Text 6"/>
          <p:cNvSpPr/>
          <p:nvPr/>
        </p:nvSpPr>
        <p:spPr>
          <a:xfrm>
            <a:off x="608076" y="246888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C4392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98%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882396" y="379476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CDCB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沉淀的资产从未被复用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ECDCB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经验沉了,却传不出去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402836" y="2103120"/>
            <a:ext cx="3383280" cy="3108960"/>
          </a:xfrm>
          <a:prstGeom prst="rect">
            <a:avLst/>
          </a:prstGeom>
          <a:solidFill>
            <a:srgbClr val="241B11"/>
          </a:solidFill>
          <a:ln w="12700">
            <a:solidFill>
              <a:srgbClr val="4A3A22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02836" y="2103120"/>
            <a:ext cx="3383280" cy="32004"/>
          </a:xfrm>
          <a:prstGeom prst="rect">
            <a:avLst/>
          </a:prstGeom>
          <a:solidFill>
            <a:srgbClr val="C8962A"/>
          </a:solidFill>
          <a:ln/>
        </p:spPr>
      </p:sp>
      <p:sp>
        <p:nvSpPr>
          <p:cNvPr id="12" name="Text 10"/>
          <p:cNvSpPr/>
          <p:nvPr/>
        </p:nvSpPr>
        <p:spPr>
          <a:xfrm>
            <a:off x="4402836" y="246888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C4392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84%</a:t>
            </a:r>
            <a:endParaRPr lang="en-US" sz="6400" dirty="0"/>
          </a:p>
        </p:txBody>
      </p:sp>
      <p:sp>
        <p:nvSpPr>
          <p:cNvPr id="13" name="Text 11"/>
          <p:cNvSpPr/>
          <p:nvPr/>
        </p:nvSpPr>
        <p:spPr>
          <a:xfrm>
            <a:off x="4677156" y="379476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CDCB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Gene 用 console.log 等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ECDCB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水校验绕过质量闸门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197596" y="2103120"/>
            <a:ext cx="3383280" cy="3108960"/>
          </a:xfrm>
          <a:prstGeom prst="rect">
            <a:avLst/>
          </a:prstGeom>
          <a:solidFill>
            <a:srgbClr val="241B11"/>
          </a:solidFill>
          <a:ln w="12700">
            <a:solidFill>
              <a:srgbClr val="4A3A22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97596" y="2103120"/>
            <a:ext cx="3383280" cy="32004"/>
          </a:xfrm>
          <a:prstGeom prst="rect">
            <a:avLst/>
          </a:prstGeom>
          <a:solidFill>
            <a:srgbClr val="C8962A"/>
          </a:solidFill>
          <a:ln/>
        </p:spPr>
      </p:sp>
      <p:sp>
        <p:nvSpPr>
          <p:cNvPr id="16" name="Text 14"/>
          <p:cNvSpPr/>
          <p:nvPr/>
        </p:nvSpPr>
        <p:spPr>
          <a:xfrm>
            <a:off x="8197596" y="246888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E0A93B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∞</a:t>
            </a:r>
            <a:endParaRPr lang="en-US" sz="6400" dirty="0"/>
          </a:p>
        </p:txBody>
      </p:sp>
      <p:sp>
        <p:nvSpPr>
          <p:cNvPr id="17" name="Text 15"/>
          <p:cNvSpPr/>
          <p:nvPr/>
        </p:nvSpPr>
        <p:spPr>
          <a:xfrm>
            <a:off x="8471916" y="379476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CDCB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同一个坑,每个 agent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ECDCB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反复踩、反复烧 token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8680" y="557784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E0A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结论:经验需要像免疫一样,被共享、被继承、被验证。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11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0A93B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✦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772400" y="641908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7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EvoImmune · 进化酒馆 · The Forge / A2A 蜂群协作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68680" y="50292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DCB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EvoImmune 是什么 · Agent 版「群体免疫」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86968" y="126187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A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把失败压缩成抗体,经中央电报局让全族群继承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011680"/>
            <a:ext cx="5120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C439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一个 agent 踩坑</a:t>
            </a:r>
            <a:endParaRPr lang="en-US" sz="17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→"/>
            </a:pPr>
            <a:r>
              <a:rPr lang="en-US" sz="1700" dirty="0">
                <a:solidFill>
                  <a:srgbClr val="ECDCB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把失败压缩成「抗体」(带报错指纹的可复用修复)</a:t>
            </a:r>
            <a:endParaRPr lang="en-US" sz="17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→"/>
            </a:pPr>
            <a:r>
              <a:rPr lang="en-US" sz="1700" dirty="0">
                <a:solidFill>
                  <a:srgbClr val="ECDCB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发到 EvoMap 中央电报局(Hub)</a:t>
            </a:r>
            <a:endParaRPr lang="en-US" sz="17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→"/>
            </a:pPr>
            <a:r>
              <a:rPr lang="en-US" sz="1700" b="1" dirty="0">
                <a:solidFill>
                  <a:srgbClr val="88A25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别的 agent 命中同一指纹 → 生来免疫,不再犯、不再烧 token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53949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0A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扣死手册「群体免疫」命题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366760" y="3154680"/>
            <a:ext cx="1554480" cy="1554480"/>
          </a:xfrm>
          <a:prstGeom prst="ellipse">
            <a:avLst/>
          </a:prstGeom>
          <a:solidFill>
            <a:srgbClr val="2C2113"/>
          </a:solidFill>
          <a:ln w="25400">
            <a:solidFill>
              <a:srgbClr val="E0A93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138160" y="352044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A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中央电报局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C87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EvoMap Hub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92240" y="2103120"/>
            <a:ext cx="2103120" cy="640080"/>
          </a:xfrm>
          <a:prstGeom prst="roundRect">
            <a:avLst>
              <a:gd name="adj" fmla="val 8571"/>
            </a:avLst>
          </a:prstGeom>
          <a:solidFill>
            <a:srgbClr val="241B11"/>
          </a:solidFill>
          <a:ln w="19050">
            <a:solidFill>
              <a:srgbClr val="C4392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21031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CDCB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🛑 踩坑·造抗体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058400" y="3657600"/>
            <a:ext cx="2103120" cy="640080"/>
          </a:xfrm>
          <a:prstGeom prst="roundRect">
            <a:avLst>
              <a:gd name="adj" fmla="val 8571"/>
            </a:avLst>
          </a:prstGeom>
          <a:solidFill>
            <a:srgbClr val="241B11"/>
          </a:solidFill>
          <a:ln w="19050">
            <a:solidFill>
              <a:srgbClr val="E0A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0" y="36576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CDCB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📡 发电报·沉淀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92240" y="5486400"/>
            <a:ext cx="2103120" cy="640080"/>
          </a:xfrm>
          <a:prstGeom prst="roundRect">
            <a:avLst>
              <a:gd name="adj" fmla="val 8571"/>
            </a:avLst>
          </a:prstGeom>
          <a:solidFill>
            <a:srgbClr val="241B11"/>
          </a:solidFill>
          <a:ln w="19050">
            <a:solidFill>
              <a:srgbClr val="88A25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54864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CDCB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🟢 继承·全群免疫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321040" y="2423160"/>
            <a:ext cx="822960" cy="822960"/>
          </a:xfrm>
          <a:prstGeom prst="line">
            <a:avLst/>
          </a:prstGeom>
          <a:noFill/>
          <a:ln w="19050">
            <a:solidFill>
              <a:srgbClr val="E0A93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966960" y="3977640"/>
            <a:ext cx="-45720" cy="-457200"/>
          </a:xfrm>
          <a:prstGeom prst="line">
            <a:avLst/>
          </a:prstGeom>
          <a:noFill/>
          <a:ln w="19050">
            <a:solidFill>
              <a:srgbClr val="E0A93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321040" y="5120640"/>
            <a:ext cx="822960" cy="-822960"/>
          </a:xfrm>
          <a:prstGeom prst="line">
            <a:avLst/>
          </a:prstGeom>
          <a:noFill/>
          <a:ln w="19050">
            <a:solidFill>
              <a:srgbClr val="88A259"/>
            </a:solidFill>
            <a:prstDash val="solid"/>
            <a:headEnd type="triangle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11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0A93B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✦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772400" y="641908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7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EvoImmune · 进化酒馆 · The Forge / A2A 蜂群协作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68680" y="50292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DCB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机制全是真 EvoMap · 不是 mock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86968" y="126187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A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抗体↔Capsule,识别↔gep_recall,沉淀↔record,上链↔publish_bundle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05840" y="2011680"/>
          <a:ext cx="1014984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594360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7110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免疫概念</a:t>
                      </a:r>
                      <a:endParaRPr lang="en-US" sz="16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3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3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3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3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A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7110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EvoMap 真实原语</a:t>
                      </a:r>
                      <a:endParaRPr lang="en-US" sz="16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3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3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3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3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A93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CDCB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抗体(对某类坑的免疫)</a:t>
                      </a:r>
                      <a:endParaRPr lang="en-US" sz="16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3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3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3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3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B1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CDCB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Capsule(content + trigger + outcome)</a:t>
                      </a:r>
                      <a:endParaRPr lang="en-US" sz="16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3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3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3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3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B1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CDCB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识别 / 继承</a:t>
                      </a:r>
                      <a:endParaRPr lang="en-US" sz="16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3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3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3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3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B1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CDCB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gep_recall(模糊 trigger 匹配)</a:t>
                      </a:r>
                      <a:endParaRPr lang="en-US" sz="16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3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3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3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3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B1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CDCB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沉淀抗体</a:t>
                      </a:r>
                      <a:endParaRPr lang="en-US" sz="16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3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3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3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3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B1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CDCB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gep_record_outcome(成功即生成 Capsule)</a:t>
                      </a:r>
                      <a:endParaRPr lang="en-US" sz="16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3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3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3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3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B1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CDCB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可信免疫(拒收水抗体)</a:t>
                      </a:r>
                      <a:endParaRPr lang="en-US" sz="16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3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3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3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3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B1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CDCB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validation 沙箱(node)+ Validator + GDI 闸门</a:t>
                      </a:r>
                      <a:endParaRPr lang="en-US" sz="16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3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3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3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3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B1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CDCB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抗体上链扩散</a:t>
                      </a:r>
                      <a:endParaRPr lang="en-US" sz="16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3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3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3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3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B1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CDCB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gep_publish_bundle → A2A Hub(真节点已认领)</a:t>
                      </a:r>
                      <a:endParaRPr lang="en-US" sz="16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3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3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3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3A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B11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1005840" y="5897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0A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差异化:真 validation 闸门(打论文 84% 水校验)+ 归一化 trigger(打 98% 没复用)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711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0A93B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✦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772400" y="641908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7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EvoImmune · 进化酒馆 · The Forge / A2A 蜂群协作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68680" y="50292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DCB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战报 · 免疫让规模变便宜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86968" y="126187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A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180 任务 · 64 节点蜂群 · 6 病原家族(受控基准)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8680" y="2011680"/>
            <a:ext cx="3749040" cy="3566160"/>
          </a:xfrm>
          <a:prstGeom prst="rect">
            <a:avLst/>
          </a:prstGeom>
          <a:solidFill>
            <a:srgbClr val="241B11"/>
          </a:solidFill>
          <a:ln w="12700">
            <a:solidFill>
              <a:srgbClr val="4A3A22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2011680"/>
            <a:ext cx="3749040" cy="32004"/>
          </a:xfrm>
          <a:prstGeom prst="rect">
            <a:avLst/>
          </a:prstGeom>
          <a:solidFill>
            <a:srgbClr val="C8962A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46888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88A259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省 97%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1097280" y="3749040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CDCB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免疫前 </a:t>
            </a:r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C439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180</a:t>
            </a:r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CDCB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次模型解题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CDCB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EvoMap 免疫后 </a:t>
            </a:r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88A25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</a:t>
            </a:r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CDCB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次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E0A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≈ 313,200 tokens 省下</a:t>
            </a:r>
            <a:endParaRPr lang="en-US" sz="18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5029200" y="2011680"/>
          <a:ext cx="64008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11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0A93B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✦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772400" y="641908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7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EvoImmune · 进化酒馆 · The Forge / A2A 蜂群协作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68680" y="50292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DCB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不是注水 · 真实性四连证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86968" y="126187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A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受控基准证机制,真实抽样证真实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30936" y="2057400"/>
            <a:ext cx="5212080" cy="1691640"/>
          </a:xfrm>
          <a:prstGeom prst="rect">
            <a:avLst/>
          </a:prstGeom>
          <a:solidFill>
            <a:srgbClr val="241B11"/>
          </a:solidFill>
          <a:ln w="12700">
            <a:solidFill>
              <a:srgbClr val="4A3A22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30936" y="2057400"/>
            <a:ext cx="5212080" cy="32004"/>
          </a:xfrm>
          <a:prstGeom prst="rect">
            <a:avLst/>
          </a:prstGeom>
          <a:solidFill>
            <a:srgbClr val="C8962A"/>
          </a:solidFill>
          <a:ln/>
        </p:spPr>
      </p:sp>
      <p:sp>
        <p:nvSpPr>
          <p:cNvPr id="8" name="Text 6"/>
          <p:cNvSpPr/>
          <p:nvPr/>
        </p:nvSpPr>
        <p:spPr>
          <a:xfrm>
            <a:off x="950976" y="22860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8A259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真模型实证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50976" y="28346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ECDCB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Gemini 真解 3 个零号病人(真 1149 tok)+ 9 个免疫继承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345936" y="2057400"/>
            <a:ext cx="5212080" cy="1691640"/>
          </a:xfrm>
          <a:prstGeom prst="rect">
            <a:avLst/>
          </a:prstGeom>
          <a:solidFill>
            <a:srgbClr val="241B11"/>
          </a:solidFill>
          <a:ln w="12700">
            <a:solidFill>
              <a:srgbClr val="4A3A22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45936" y="2057400"/>
            <a:ext cx="5212080" cy="32004"/>
          </a:xfrm>
          <a:prstGeom prst="rect">
            <a:avLst/>
          </a:prstGeom>
          <a:solidFill>
            <a:srgbClr val="C8962A"/>
          </a:solidFill>
          <a:ln/>
        </p:spPr>
      </p:sp>
      <p:sp>
        <p:nvSpPr>
          <p:cNvPr id="12" name="Text 10"/>
          <p:cNvSpPr/>
          <p:nvPr/>
        </p:nvSpPr>
        <p:spPr>
          <a:xfrm>
            <a:off x="6665976" y="22860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0A93B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跨模型免疫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665976" y="28346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ECDCB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 / GPT / Gemini 各造抗体,被全 6 种模型继承(3×6 全绿)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30936" y="4114800"/>
            <a:ext cx="5212080" cy="1691640"/>
          </a:xfrm>
          <a:prstGeom prst="rect">
            <a:avLst/>
          </a:prstGeom>
          <a:solidFill>
            <a:srgbClr val="241B11"/>
          </a:solidFill>
          <a:ln w="12700">
            <a:solidFill>
              <a:srgbClr val="4A3A22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0936" y="4114800"/>
            <a:ext cx="5212080" cy="32004"/>
          </a:xfrm>
          <a:prstGeom prst="rect">
            <a:avLst/>
          </a:prstGeom>
          <a:solidFill>
            <a:srgbClr val="C8962A"/>
          </a:solidFill>
          <a:ln/>
        </p:spPr>
      </p:sp>
      <p:sp>
        <p:nvSpPr>
          <p:cNvPr id="16" name="Text 14"/>
          <p:cNvSpPr/>
          <p:nvPr/>
        </p:nvSpPr>
        <p:spPr>
          <a:xfrm>
            <a:off x="950976" y="4343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0A93B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真 A2A 上链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50976" y="48920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ECDCB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注册+认领真节点,gep_publish_bundle 上 evomap.ai(quarantine→auto_promoted)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345936" y="4114800"/>
            <a:ext cx="5212080" cy="1691640"/>
          </a:xfrm>
          <a:prstGeom prst="rect">
            <a:avLst/>
          </a:prstGeom>
          <a:solidFill>
            <a:srgbClr val="241B11"/>
          </a:solidFill>
          <a:ln w="12700">
            <a:solidFill>
              <a:srgbClr val="4A3A22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45936" y="4114800"/>
            <a:ext cx="5212080" cy="32004"/>
          </a:xfrm>
          <a:prstGeom prst="rect">
            <a:avLst/>
          </a:prstGeom>
          <a:solidFill>
            <a:srgbClr val="C8962A"/>
          </a:solidFill>
          <a:ln/>
        </p:spPr>
      </p:sp>
      <p:sp>
        <p:nvSpPr>
          <p:cNvPr id="20" name="Text 18"/>
          <p:cNvSpPr/>
          <p:nvPr/>
        </p:nvSpPr>
        <p:spPr>
          <a:xfrm>
            <a:off x="6665976" y="4343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8A259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真坑实证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665976" y="48920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ECDCB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两个真实逻辑 bug,真模型读测试反推意图修复(非 transform)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711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0A93B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✦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772400" y="641908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7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EvoImmune · 进化酒馆 · The Forge / A2A 蜂群协作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68680" y="50292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DCB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真坑实证 · 模型现场推理(堵"玩具 bug"质疑)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86968" y="126187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A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逻辑 bug:输出错误而非语法 typo,必须读懂业务意图才能修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8680" y="2011680"/>
            <a:ext cx="10469880" cy="2011680"/>
          </a:xfrm>
          <a:prstGeom prst="rect">
            <a:avLst/>
          </a:prstGeom>
          <a:solidFill>
            <a:srgbClr val="241B11"/>
          </a:solidFill>
          <a:ln w="12700">
            <a:solidFill>
              <a:srgbClr val="4A3A22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43000" y="217627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CDCB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① 分页边界错位 (off-by-one)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955280" y="21762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C87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Gemini · 真 655 tok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43000" y="267004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392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BUGGY  </a:t>
            </a:r>
            <a:pPr indent="0" marL="0">
              <a:buNone/>
            </a:pPr>
            <a:r>
              <a:rPr lang="en-US" sz="1400" dirty="0">
                <a:solidFill>
                  <a:srgbClr val="ECDCB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items.slice(start, start+size-1)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000" y="312724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8A25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FIXED  </a:t>
            </a:r>
            <a:pPr indent="0" marL="0">
              <a:buNone/>
            </a:pPr>
            <a:r>
              <a:rPr lang="en-US" sz="1400" dirty="0">
                <a:solidFill>
                  <a:srgbClr val="ECDCB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items.slice(start, start+size)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356616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0A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expected [1,2] got [1] · 少取最后一项 · 同类复发即电报免疫(零模型)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8680" y="4251960"/>
            <a:ext cx="10469880" cy="2011680"/>
          </a:xfrm>
          <a:prstGeom prst="rect">
            <a:avLst/>
          </a:prstGeom>
          <a:solidFill>
            <a:srgbClr val="241B11"/>
          </a:solidFill>
          <a:ln w="12700">
            <a:solidFill>
              <a:srgbClr val="4A3A22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143000" y="441655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CDCB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② 发票折扣/税顺序错位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955280" y="44165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C87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Gemini · 真 1038 tok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43000" y="491032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392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BUGGY  </a:t>
            </a:r>
            <a:pPr indent="0" marL="0">
              <a:buNone/>
            </a:pPr>
            <a:r>
              <a:rPr lang="en-US" sz="1400" dirty="0">
                <a:solidFill>
                  <a:srgbClr val="ECDCB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tax = subtotal * taxRate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43000" y="536752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8A25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FIXED  </a:t>
            </a:r>
            <a:pPr indent="0" marL="0">
              <a:buNone/>
            </a:pPr>
            <a:r>
              <a:rPr lang="en-US" sz="1400" dirty="0">
                <a:solidFill>
                  <a:srgbClr val="ECDCB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tax = (subtotal - discount) * taxRate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3000" y="580644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0A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expected 93.5 got 95 · 先扣折扣再计税 · 同类复发即电报免疫(零模型)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711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0A93B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✦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772400" y="641908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7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EvoImmune · 进化酒馆 · The Forge / A2A 蜂群协作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68680" y="50292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DCB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商业楔子 · Agent 失败经验的 CVE 库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86968" y="126187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A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团队/企业的 agent 舰队,共享一张「免疫记忆」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057400"/>
            <a:ext cx="65836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spcAft>
                <a:spcPts val="800"/>
              </a:spcAft>
              <a:buNone/>
            </a:pPr>
            <a:r>
              <a:rPr lang="en-US" sz="1900" b="1" dirty="0">
                <a:solidFill>
                  <a:srgbClr val="E0A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谁付费:</a:t>
            </a:r>
            <a:pPr indent="0" marL="0">
              <a:lnSpc>
                <a:spcPct val="145000"/>
              </a:lnSpc>
              <a:spcAft>
                <a:spcPts val="800"/>
              </a:spcAft>
              <a:buNone/>
            </a:pPr>
            <a:r>
              <a:rPr lang="en-US" sz="1900" dirty="0">
                <a:solidFill>
                  <a:srgbClr val="ECDCB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有 agent 舰队 / AI CI 的团队与企业</a:t>
            </a:r>
            <a:endParaRPr lang="en-US" sz="1900" dirty="0"/>
          </a:p>
          <a:p>
            <a:pPr indent="0" marL="0">
              <a:lnSpc>
                <a:spcPct val="145000"/>
              </a:lnSpc>
              <a:spcAft>
                <a:spcPts val="800"/>
              </a:spcAft>
              <a:buNone/>
            </a:pPr>
            <a:r>
              <a:rPr lang="en-US" sz="1900" b="1" dirty="0">
                <a:solidFill>
                  <a:srgbClr val="E0A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楔子:</a:t>
            </a:r>
            <a:pPr indent="0" marL="0">
              <a:lnSpc>
                <a:spcPct val="145000"/>
              </a:lnSpc>
              <a:spcAft>
                <a:spcPts val="800"/>
              </a:spcAft>
              <a:buNone/>
            </a:pPr>
            <a:r>
              <a:rPr lang="en-US" sz="1900" dirty="0">
                <a:solidFill>
                  <a:srgbClr val="ECDCB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任何一个 agent 踩过的坑,全公司 agent 生来免疫</a:t>
            </a:r>
            <a:endParaRPr lang="en-US" sz="1900" dirty="0"/>
          </a:p>
          <a:p>
            <a:pPr indent="0" marL="0">
              <a:lnSpc>
                <a:spcPct val="145000"/>
              </a:lnSpc>
              <a:spcAft>
                <a:spcPts val="800"/>
              </a:spcAft>
              <a:buNone/>
            </a:pPr>
            <a:r>
              <a:rPr lang="en-US" sz="1900" b="1" dirty="0">
                <a:solidFill>
                  <a:srgbClr val="E0A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价值:</a:t>
            </a:r>
            <a:pPr indent="0" marL="0">
              <a:lnSpc>
                <a:spcPct val="145000"/>
              </a:lnSpc>
              <a:spcAft>
                <a:spcPts val="800"/>
              </a:spcAft>
              <a:buNone/>
            </a:pPr>
            <a:r>
              <a:rPr lang="en-US" sz="1900" dirty="0">
                <a:solidFill>
                  <a:srgbClr val="ECDCB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一次解、全员免疫 → token 成本随规模指数下降</a:t>
            </a:r>
            <a:endParaRPr lang="en-US" sz="1900" dirty="0"/>
          </a:p>
          <a:p>
            <a:pPr indent="0" marL="0">
              <a:lnSpc>
                <a:spcPct val="145000"/>
              </a:lnSpc>
              <a:spcAft>
                <a:spcPts val="800"/>
              </a:spcAft>
              <a:buNone/>
            </a:pPr>
            <a:r>
              <a:rPr lang="en-US" sz="1900" b="1" dirty="0">
                <a:solidFill>
                  <a:srgbClr val="E0A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可信:</a:t>
            </a:r>
            <a:pPr indent="0" marL="0">
              <a:lnSpc>
                <a:spcPct val="145000"/>
              </a:lnSpc>
              <a:spcAft>
                <a:spcPts val="800"/>
              </a:spcAft>
              <a:buNone/>
            </a:pPr>
            <a:r>
              <a:rPr lang="en-US" sz="1900" dirty="0">
                <a:solidFill>
                  <a:srgbClr val="ECDCB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真 validation + 共识投票,杜绝"假经验"污染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772400" y="2103120"/>
            <a:ext cx="3566160" cy="3383280"/>
          </a:xfrm>
          <a:prstGeom prst="rect">
            <a:avLst/>
          </a:prstGeom>
          <a:solidFill>
            <a:srgbClr val="2C2113"/>
          </a:solidFill>
          <a:ln w="12700">
            <a:solidFill>
              <a:srgbClr val="4A3A22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0" y="2103120"/>
            <a:ext cx="3566160" cy="32004"/>
          </a:xfrm>
          <a:prstGeom prst="rect">
            <a:avLst/>
          </a:prstGeom>
          <a:solidFill>
            <a:srgbClr val="C8962A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0" y="25603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i="1" dirty="0">
                <a:solidFill>
                  <a:srgbClr val="E0A93B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“CVE for Agents”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046720" y="338328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ECDCB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像安全界共享漏洞库一样,</a:t>
            </a:r>
            <a:endParaRPr lang="en-US" sz="16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ECDCB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让 AI 共享失败经验库。</a:t>
            </a:r>
            <a:endParaRPr lang="en-US" sz="16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6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88A25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一个学会,百万免疫。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0C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0A93B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✦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772400" y="641908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7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EvoImmune · 进化酒馆 · The Forge / A2A 蜂群协作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0" y="155448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0A93B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✦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2286000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CDCB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一个 agent 学会,全族群生来免疫。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0" y="347472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0A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EvoImmune · 进化酒馆边境免疫志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0" y="429768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C87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真 EvoMap 全栈(真模型 / 跨模型 / 真上链)· 现场可互动 Console · 西部世界美术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0" y="530352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E0A9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现在,放出流寇 —— 看群体免疫如何发生。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EvoImmune · 进化酒馆边境免疫志</dc:title>
  <dc:subject>PptxGenJS Presentation</dc:subject>
  <dc:creator>EvoImmune</dc:creator>
  <cp:lastModifiedBy>EvoImmune</cp:lastModifiedBy>
  <cp:revision>1</cp:revision>
  <dcterms:created xsi:type="dcterms:W3CDTF">2026-06-20T11:46:02Z</dcterms:created>
  <dcterms:modified xsi:type="dcterms:W3CDTF">2026-06-20T11:46:02Z</dcterms:modified>
</cp:coreProperties>
</file>